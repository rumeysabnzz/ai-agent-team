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8A6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731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8A6514"/>
                </a:solidFill>
              </a:rPr>
              <a:t>M O T İ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37744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F1D2B"/>
                </a:solidFill>
              </a:rPr>
              <a:t>Haftalık Rakip Raporu · 11–18 Ekim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11480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5F5C6D"/>
                </a:solidFill>
              </a:rPr>
              <a:t>Tarih:</a:t>
            </a:r>
            <a:r>
              <a:rPr sz="1600" b="0">
                <a:solidFill>
                  <a:srgbClr val="5F5C6D"/>
                </a:solidFill>
              </a:rPr>
              <a:t> 18.10.2026 · </a:t>
            </a:r>
            <a:r>
              <a:rPr sz="1600" b="1">
                <a:solidFill>
                  <a:srgbClr val="5F5C6D"/>
                </a:solidFill>
              </a:rPr>
              <a:t>Çalışma şekli:</a:t>
            </a:r>
            <a:r>
              <a:rPr sz="1600" b="0">
                <a:solidFill>
                  <a:srgbClr val="5F5C6D"/>
                </a:solidFill>
              </a:rPr>
              <a:t> API'siz, Claude aboneliği · </a:t>
            </a:r>
            <a:r>
              <a:rPr sz="1600" b="1">
                <a:solidFill>
                  <a:srgbClr val="5F5C6D"/>
                </a:solidFill>
              </a:rPr>
              <a:t>Kaynak:</a:t>
            </a:r>
            <a:r>
              <a:rPr sz="1600" b="0">
                <a:solidFill>
                  <a:srgbClr val="5F5C6D"/>
                </a:solidFill>
              </a:rPr>
              <a:t> Virale, 18.10.2026 itibarıyla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6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1D2B"/>
                </a:solidFill>
              </a:rPr>
              <a:t>Yönetici özeti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5C6D"/>
                </a:solidFill>
              </a:rPr>
              <a:t>MOTİF · Haftalık Rakip Raporu · 11–18 Ekim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1. Kritik seviyede uyarı yok. Bir önemli uyarı var: The Ordinary'nin Lip Treatment lansmanı ve mağaza kampanyası (14.10–31.12).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2. The Ordinary, 3,12 milyon takipçisiyle hacim lideri; bu hafta en yüksek izlenme 136.694 (16.10).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3. Bu hafta rakipler arasında en yüksek etkileşim, The Purest Solutions'ın vücut bakımı rutini reel'inde (12.10): %4,24.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4. Cream Co. 11–15.10 arasında parfüm, yüz spreyi ve iş birliği içeriklerine yöneldi; cilt bakımı dışı ağırlık arttı.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5. BOLBÉ'de en yüksek etkileşim quiz içeriğinde (12.10): %5,72 ve 19 yorum. Ürün reel'leri 547–1.463 izlenmede kaldı.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6. Ürün karşılaştırması: BOLBÉ, SPF'de rakipten ml başına daha uygun, peptitli HA serumda liste fiyatında uygun ama rakip kampanyasında pahalı. Dudak bakımı, yüz spreyi ve asitli tonik BOLBÉ'de bulunmayan kategoriler.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6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1D2B"/>
                </a:solidFill>
              </a:rPr>
              <a:t>Uyarılar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5C6D"/>
                </a:solidFill>
              </a:rPr>
              <a:t>MOTİF · Haftalık Rakip Raporu · 11–18 Ekim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34440"/>
          <a:ext cx="11064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Seviye</a:t>
                      </a:r>
                    </a:p>
                  </a:txBody>
                  <a:tcPr>
                    <a:solidFill>
                      <a:srgbClr val="8A65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Başlık</a:t>
                      </a:r>
                    </a:p>
                  </a:txBody>
                  <a:tcPr>
                    <a:solidFill>
                      <a:srgbClr val="8A65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Rakip</a:t>
                      </a:r>
                    </a:p>
                  </a:txBody>
                  <a:tcPr>
                    <a:solidFill>
                      <a:srgbClr val="8A65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Ne yapılmalı</a:t>
                      </a:r>
                    </a:p>
                  </a:txBody>
                  <a:tcPr>
                    <a:solidFill>
                      <a:srgbClr val="8A651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Önemli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Lip Treatment lansmanı ve %10 mağaza kampanyası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The Ordinary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Acil aksiyon yok; marka sahibine bilgi. İndirim kararı ona ait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Bilgi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Ürün ağırlığı cilt bakımı dışına kaydı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Cream Co.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İki hafta izle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Bilgi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Rutin formatı bu hafta en yüksek etkileşimi aldı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The Purest Solutions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Strateji önerisi 2'yi değerlendir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38328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F5C6D"/>
                </a:solidFill>
              </a:rPr>
              <a:t>Bu hafta rakip ortalamasının belirgin üstünde içerik yoktu (en yüksek yaklaşık 1,2 kat).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6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1D2B"/>
                </a:solidFill>
              </a:rPr>
              <a:t>Rakip bazında özet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5C6D"/>
                </a:solidFill>
              </a:rPr>
              <a:t>MOTİF · Haftalık Rakip Raporu · 11–18 Ekim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</a:t>
            </a:r>
            <a:r>
              <a:rPr sz="1600" b="1">
                <a:solidFill>
                  <a:srgbClr val="1F1D2B"/>
                </a:solidFill>
              </a:rPr>
              <a:t>The Purest Solutions (164.083 takipçi):</a:t>
            </a:r>
            <a:r>
              <a:rPr sz="1600" b="0">
                <a:solidFill>
                  <a:srgbClr val="1F1D2B"/>
                </a:solidFill>
              </a:rPr>
              <a:t> Bu hafta 1 içerik, 100.667 izlenme, %4,24. Rutin ve matara seti %4,2–5,7; şampuan içerikleri %0,85–1,13 (dönem dışı).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</a:t>
            </a:r>
            <a:r>
              <a:rPr sz="1600" b="1">
                <a:solidFill>
                  <a:srgbClr val="1F1D2B"/>
                </a:solidFill>
              </a:rPr>
              <a:t>The Ordinary (3.120.719):</a:t>
            </a:r>
            <a:r>
              <a:rPr sz="1600" b="0">
                <a:solidFill>
                  <a:srgbClr val="1F1D2B"/>
                </a:solidFill>
              </a:rPr>
              <a:t> Bu hafta 4 içerik, 52.387–136.694 izlenme, %0,88–1,87. Ortalama 113.231 izlenme. Lansman, pop-up, eğitim ve mağaza kampanyası.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</a:t>
            </a:r>
            <a:r>
              <a:rPr sz="1600" b="1">
                <a:solidFill>
                  <a:srgbClr val="1F1D2B"/>
                </a:solidFill>
              </a:rPr>
              <a:t>Cream Co. (73.763):</a:t>
            </a:r>
            <a:r>
              <a:rPr sz="1600" b="0">
                <a:solidFill>
                  <a:srgbClr val="1F1D2B"/>
                </a:solidFill>
              </a:rPr>
              <a:t> Bu hafta 3 içerik, 5.818–33.398 izlenme. Ortalama 26.520. Beğeniler gizli; etkileşim oranı güvenilir değil.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</a:t>
            </a:r>
            <a:r>
              <a:rPr sz="1600" b="1">
                <a:solidFill>
                  <a:srgbClr val="1F1D2B"/>
                </a:solidFill>
              </a:rPr>
              <a:t>BOLBÉ (8.808, karşılaştırma):</a:t>
            </a:r>
            <a:r>
              <a:rPr sz="1600" b="0">
                <a:solidFill>
                  <a:srgbClr val="1F1D2B"/>
                </a:solidFill>
              </a:rPr>
              <a:t> Bu hafta 4 içerik, 547–2.306 izlenme. En güçlü içerik quiz.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6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1D2B"/>
                </a:solidFill>
              </a:rPr>
              <a:t>Ürün karşılaştırması: rakip ürünleri ve BOLBÉ muadilleri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5C6D"/>
                </a:solidFill>
              </a:rPr>
              <a:t>MOTİF · Haftalık Rakip Raporu · 11–18 Ekim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F5C6D"/>
                </a:solidFill>
              </a:rPr>
              <a:t>Fiyatlar TL, ml başı. K = kampanyalı, L = liste fiyatı. Ayrıntı: 2-urun-karsilastirma.md, katalog: apisiz/urunler.md.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1844040"/>
                <a:gridCol w="1844040"/>
                <a:gridCol w="1844040"/>
                <a:gridCol w="1844040"/>
                <a:gridCol w="184404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Kategori</a:t>
                      </a:r>
                    </a:p>
                  </a:txBody>
                  <a:tcPr>
                    <a:solidFill>
                      <a:srgbClr val="8A65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Rakip ürün</a:t>
                      </a:r>
                    </a:p>
                  </a:txBody>
                  <a:tcPr>
                    <a:solidFill>
                      <a:srgbClr val="8A65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Rakip (TL/ml)</a:t>
                      </a:r>
                    </a:p>
                  </a:txBody>
                  <a:tcPr>
                    <a:solidFill>
                      <a:srgbClr val="8A65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BOLBÉ muadili</a:t>
                      </a:r>
                    </a:p>
                  </a:txBody>
                  <a:tcPr>
                    <a:solidFill>
                      <a:srgbClr val="8A65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BOLBÉ (TL/ml)</a:t>
                      </a:r>
                    </a:p>
                  </a:txBody>
                  <a:tcPr>
                    <a:solidFill>
                      <a:srgbClr val="8A65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Sonuç</a:t>
                      </a:r>
                    </a:p>
                  </a:txBody>
                  <a:tcPr>
                    <a:solidFill>
                      <a:srgbClr val="8A651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SPF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Cream Co. Everyday SPF 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7,50 K / 19,25 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Sun Drop SPF 50+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5,32 K / 10,65 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BOLBÉ iki fiyatta da daha uygun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HA + peptit serum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Cream Co. HA Peptide Serum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8,00 K / 20,00 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Peptitli HA Serumu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13,17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Listede BOLBÉ uygun, rakip kampanyasında pahalı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Bariyer serumu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The Ordinary Soothing &amp; Barrier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37,25 (tek satıcı)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Peptitli HA Serumu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13,17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BOLBÉ uygun; kaynak zayıf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Nemlendirici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Cream Co. PDRN Collagen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6,80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Prebiyotikli Yüz Kremi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7,78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Fiyat yakın; fark içerikte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Tonik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The Ordinary Milky Toner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TL bulunamadı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Nem Toniği 200 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2,75 (Gratis Kart 1,37)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Hacim avantajı BOLBÉ'de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20624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5F5C6D"/>
                </a:solidFill>
              </a:rPr>
              <a:t>Ürün boşlukları (BOLBÉ'de muadil yok):</a:t>
            </a:r>
            <a:r>
              <a:rPr sz="1400" b="0">
                <a:solidFill>
                  <a:srgbClr val="5F5C6D"/>
                </a:solidFill>
              </a:rPr>
              <a:t> dudak bakımı (The Ordinary'nin bu haftaki lansmanı bu kategoride), asitli tonik, yüz spreyi, renkli SPF, yatıştırma odaklı ayrı serum. </a:t>
            </a:r>
            <a:r>
              <a:rPr sz="1400" b="1">
                <a:solidFill>
                  <a:srgbClr val="5F5C6D"/>
                </a:solidFill>
              </a:rPr>
              <a:t>İletişimde öne çıkarılabilecek farklar:</a:t>
            </a:r>
            <a:r>
              <a:rPr sz="1400" b="0">
                <a:solidFill>
                  <a:srgbClr val="5F5C6D"/>
                </a:solidFill>
              </a:rPr>
              <a:t> prebiyotik içerik, tek serumda peptit + seramid + beta-glukan + prebiyotik (markanın vaadi), SPF ve tonikte fiyat/hacim avantajı, Gratis'te tek noktadan erişim. </a:t>
            </a:r>
            <a:r>
              <a:rPr sz="1400" b="1">
                <a:solidFill>
                  <a:srgbClr val="5F5C6D"/>
                </a:solidFill>
              </a:rPr>
              <a:t>Not:</a:t>
            </a:r>
            <a:r>
              <a:rPr sz="1400" b="0">
                <a:solidFill>
                  <a:srgbClr val="5F5C6D"/>
                </a:solidFill>
              </a:rPr>
              <a:t> BOLBÉ fiyatları Gratis arama özetlerinden alındı ve sayfada doğrulanmadı. Rakip fiyatlarının çoğu "tükendi" görünen eczane sayfalarından geliyor; kampanya fiyatları kalıcı olmayabilir.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6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1D2B"/>
                </a:solidFill>
              </a:rPr>
              <a:t>BOLBÉ için bu haftanın 5 önerisi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5C6D"/>
                </a:solidFill>
              </a:rPr>
              <a:t>MOTİF · Haftalık Rakip Raporu · 11–18 Ekim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1. </a:t>
            </a:r>
            <a:r>
              <a:rPr sz="1600" b="1">
                <a:solidFill>
                  <a:srgbClr val="1F1D2B"/>
                </a:solidFill>
              </a:rPr>
              <a:t>Quiz'i haftalık seriye çevir:</a:t>
            </a:r>
            <a:r>
              <a:rPr sz="1600" b="0">
                <a:solidFill>
                  <a:srgbClr val="1F1D2B"/>
                </a:solidFill>
              </a:rPr>
              <a:t> 2. bölüm "Cilt rutinin hangisi?" (12.10 quiz: %5,72, 19 yorum).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2. </a:t>
            </a:r>
            <a:r>
              <a:rPr sz="1600" b="1">
                <a:solidFill>
                  <a:srgbClr val="1F1D2B"/>
                </a:solidFill>
              </a:rPr>
              <a:t>Sade rutin reel'i:</a:t>
            </a:r>
            <a:r>
              <a:rPr sz="1600" b="0">
                <a:solidFill>
                  <a:srgbClr val="1F1D2B"/>
                </a:solidFill>
              </a:rPr>
              <a:t> 15–20 sn, "temizle–nemlendir–koru", son karede Gratis. Sağlık iddiası yok.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3. </a:t>
            </a:r>
            <a:r>
              <a:rPr sz="1600" b="1">
                <a:solidFill>
                  <a:srgbClr val="1F1D2B"/>
                </a:solidFill>
              </a:rPr>
              <a:t>Yeni ürün için teaser serisi:</a:t>
            </a:r>
            <a:r>
              <a:rPr sz="1600" b="0">
                <a:solidFill>
                  <a:srgbClr val="1F1D2B"/>
                </a:solidFill>
              </a:rPr>
              <a:t> "Yakında" (7–8 sn), ardından nasıl kullanılır, sonra rutine ekleme. Aynı hafta içinde.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4. </a:t>
            </a:r>
            <a:r>
              <a:rPr sz="1600" b="1">
                <a:solidFill>
                  <a:srgbClr val="1F1D2B"/>
                </a:solidFill>
              </a:rPr>
              <a:t>Karusel testi:</a:t>
            </a:r>
            <a:r>
              <a:rPr sz="1600" b="0">
                <a:solidFill>
                  <a:srgbClr val="1F1D2B"/>
                </a:solidFill>
              </a:rPr>
              <a:t> "Temizleme üçlüsü: hangi sırayla?" 5 kart, son kartta Gratis. İki hafta, kaydet ve kaydır oranına bak.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5. </a:t>
            </a:r>
            <a:r>
              <a:rPr sz="1600" b="1">
                <a:solidFill>
                  <a:srgbClr val="1F1D2B"/>
                </a:solidFill>
              </a:rPr>
              <a:t>Tek, kolay yorum sorusu:</a:t>
            </a:r>
            <a:r>
              <a:rPr sz="1600" b="0">
                <a:solidFill>
                  <a:srgbClr val="1F1D2B"/>
                </a:solidFill>
              </a:rPr>
              <a:t> Her reel'de. BOLBÉ'nin 6 içeriğinin 4'ü 0 yorum aldı.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6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1D2B"/>
                </a:solidFill>
              </a:rPr>
              <a:t>Veri sınırları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5C6D"/>
                </a:solidFill>
              </a:rPr>
              <a:t>MOTİF · Haftalık Rakip Raporu · 11–18 Ekim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Yorum metinleri ve tam açıklamalar yok; kriz, şikâyet ve konumlandırma saldırısı kontrolü yalnız başlıklara dayanıyor.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Etk. % değerleri Virale'den alındı; (beğeni + yorum) / izlenme ile birebir tutmuyor (BOLBÉ quiz: hesaplanan %5,1, tabloda %5,72). Sıralama aynı kalıyor.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"Takipçi oranı" olarak verilen değer (ortalama izlenme / takipçi) Strateji raporundaki "etkileşim oranı" ifadesidir; etkileşim yüzdesi değildir.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BOLBÉ ortalaması (1.211) son 8 içerikten hesaplandı; 1. adım tablosunda bunların 6'sı gösteriliyor (6 içeriğin ortalaması 1.483).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Erken Uyarı Ajanının çapraz kontrolünde bulunan üç hata kaynak dosyalarda düzeltildi: TPS'de rutin içerik oranı %25 ("yarısı" değil); The Ordinary dudak içeriği 4 ("5" değil); 09.10 teaser'ı dönem dışında.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TPS ve Cream Co. 18.10'da eklendi; geçmiş kısmi. Viral skor yalnız The Ordinary'de var.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Web veya basın taraması yapılmadı; kampanya bilgileri gönderi açıklamalarından alındı.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6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1D2B"/>
                </a:solidFill>
              </a:rPr>
              <a:t>Kaynak dosyalar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5C6D"/>
                </a:solidFill>
              </a:rPr>
              <a:t>MOTİF · Haftalık Rakip Raporu · 11–18 Ekim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1-icerik-tarayici.md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2-urun-karsilastirma.md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3-strateji-analisti.md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4-erken-uyari.md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