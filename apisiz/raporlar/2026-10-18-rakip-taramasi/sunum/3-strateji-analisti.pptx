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8A6514"/>
                </a:solidFill>
              </a:rPr>
              <a:t>B O L B 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1D2B"/>
                </a:solidFill>
              </a:rPr>
              <a:t>3 · Strateji Analisti · Haftalık Rakip Taraması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F5C6D"/>
                </a:solidFill>
              </a:rPr>
              <a:t>Tarih:</a:t>
            </a:r>
            <a:r>
              <a:rPr sz="1600" b="0">
                <a:solidFill>
                  <a:srgbClr val="5F5C6D"/>
                </a:solidFill>
              </a:rPr>
              <a:t> 18.10.2026 · </a:t>
            </a:r>
            <a:r>
              <a:rPr sz="1600" b="1">
                <a:solidFill>
                  <a:srgbClr val="5F5C6D"/>
                </a:solidFill>
              </a:rPr>
              <a:t>Dönem:</a:t>
            </a:r>
            <a:r>
              <a:rPr sz="1600" b="0">
                <a:solidFill>
                  <a:srgbClr val="5F5C6D"/>
                </a:solidFill>
              </a:rPr>
              <a:t> 11.10–18.10.2026 · </a:t>
            </a:r>
            <a:r>
              <a:rPr sz="1600" b="1">
                <a:solidFill>
                  <a:srgbClr val="5F5C6D"/>
                </a:solidFill>
              </a:rPr>
              <a:t>Kaynak:</a:t>
            </a:r>
            <a:r>
              <a:rPr sz="1600" b="0">
                <a:solidFill>
                  <a:srgbClr val="5F5C6D"/>
                </a:solidFill>
              </a:rPr>
              <a:t> 1-icerik-tarayici.md </a:t>
            </a:r>
            <a:r>
              <a:rPr sz="1600" b="1">
                <a:solidFill>
                  <a:srgbClr val="5F5C6D"/>
                </a:solidFill>
              </a:rPr>
              <a:t>Çalışma şekli:</a:t>
            </a:r>
            <a:r>
              <a:rPr sz="1600" b="0">
                <a:solidFill>
                  <a:srgbClr val="5F5C6D"/>
                </a:solidFill>
              </a:rPr>
              <a:t> API'siz, Claude aboneliği</a:t>
            </a:r>
          </a:p>
          <a:p>
            <a:r>
              <a:rPr sz="1600" b="0">
                <a:solidFill>
                  <a:srgbClr val="5F5C6D"/>
                </a:solidFill>
              </a:rPr>
              <a:t>Not: "Çıkarım" işaretli cümleler veriden yorumdur, doğrulanmış bilgi değildir. Oranlar dosyadaki sayılardan hesaplanmıştır.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Rakip başına strateji özeti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BOLBÉ · 3 · Strateji Analisti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8A6514"/>
                </a:solidFill>
              </a:rPr>
              <a:t>The Purest Solutions (164.083 takipçi)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Sütunlar:</a:t>
            </a:r>
            <a:r>
              <a:rPr sz="1600" b="0">
                <a:solidFill>
                  <a:srgbClr val="1F1D2B"/>
                </a:solidFill>
              </a:rPr>
              <a:t> Rutin (sabah duş, #sundayreset), ürün/set lansmanı (Active Body Care, matara seti), seri teaser'ı (saç, şampuan), marka mesajı ("Skin. Hair. Body."). Listedeki 8 içerikten 2'si rutin (%25); geri kalanı lansman, seri ve marka mesajı.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Sıklık:</a:t>
            </a:r>
            <a:r>
              <a:rPr sz="1600" b="0">
                <a:solidFill>
                  <a:srgbClr val="1F1D2B"/>
                </a:solidFill>
              </a:rPr>
              <a:t> 28.08–12.10 arasında listede 8 içerik; yaklaşık haftada 1 (çıkarım: Virale'ye 18.10'da eklendiği için geçmiş eksik olabilir).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Kanca:</a:t>
            </a:r>
            <a:r>
              <a:rPr sz="1600" b="0">
                <a:solidFill>
                  <a:srgbClr val="1F1D2B"/>
                </a:solidFill>
              </a:rPr>
              <a:t> "Hangi an?" kurgusu (sabah, pazar sabahı) ve kısa süre. En yüksek izlenme 15 sn'lik #sundayreset reel'inde (237.806; 580 yorum), yani kısa, tekrar izlenebilir rutin.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Görsel dil (açıklamalardan çıkarım):</a:t>
            </a:r>
            <a:r>
              <a:rPr sz="1600" b="0">
                <a:solidFill>
                  <a:srgbClr val="1F1D2B"/>
                </a:solidFill>
              </a:rPr>
              <a:t> Yaşam tarzı ve ritüel odaklı; EN/TR çift dilli açıklama.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Kampanya:</a:t>
            </a:r>
            <a:r>
              <a:rPr sz="1600" b="0">
                <a:solidFill>
                  <a:srgbClr val="1F1D2B"/>
                </a:solidFill>
              </a:rPr>
              <a:t> Tek ürün yerine "seri" kurgusu: teaser (28.08) → seri (06.09, 25.09) → lansman (30.09). Vücut bakımı rutinleri %4,2–5,7 etkileşim; şampuan %0,85–1,13.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8A6514"/>
                </a:solidFill>
              </a:rPr>
              <a:t>The Ordinary (3.120.719 takipçi)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Sütunlar:</a:t>
            </a:r>
            <a:r>
              <a:rPr sz="1600" b="0">
                <a:solidFill>
                  <a:srgbClr val="1F1D2B"/>
                </a:solidFill>
              </a:rPr>
              <a:t> Lansman, mağaza/pop-up deneyimi, eğitim (kullanım, fiyat), karşılaştırma ("Hangi tonik sana göre?"), mit çürütme.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Sıklık:</a:t>
            </a:r>
            <a:r>
              <a:rPr sz="1600" b="0">
                <a:solidFill>
                  <a:srgbClr val="1F1D2B"/>
                </a:solidFill>
              </a:rPr>
              <a:t> 05.10–16.10 arası 8 içerik; son 7 günde 4 (yoğun).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Kanca:</a:t>
            </a:r>
            <a:r>
              <a:rPr sz="1600" b="0">
                <a:solidFill>
                  <a:srgbClr val="1F1D2B"/>
                </a:solidFill>
              </a:rPr>
              <a:t> Merak ("Coming soon: lips", 228.169 izlenme), soru ("Hangi tonik sana göre?"), karşı çıkma ("mitleri çürütüyoruz").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Görsel dil:</a:t>
            </a:r>
            <a:r>
              <a:rPr sz="1600" b="0">
                <a:solidFill>
                  <a:srgbClr val="1F1D2B"/>
                </a:solidFill>
              </a:rPr>
              <a:t> Reel'ler 11–16 sn, mağaza ve etkinlik görüntüleri ağırlıklı (çıkarım).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Rakip başına strateji özeti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BOLBÉ · 3 · Strateji Analisti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Kampanya:</a:t>
            </a:r>
            <a:r>
              <a:rPr sz="1600" b="0">
                <a:solidFill>
                  <a:srgbClr val="1F1D2B"/>
                </a:solidFill>
              </a:rPr>
              <a:t> Lip Treatment için 8 günde 4 bağlantılı içerik: teaser → lansman → pop-up → mağaza oyunu (ürün veya %10 indirim, 14.10–31.12). Lansman haftasında etkileşim %1,4–1,9; izlenme yüksek ama etkileşim oranı orta.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8A6514"/>
                </a:solidFill>
              </a:rPr>
              <a:t>Cream Co. (73.763 takipçi)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Sütunlar:</a:t>
            </a:r>
            <a:r>
              <a:rPr sz="1600" b="0">
                <a:solidFill>
                  <a:srgbClr val="1F1D2B"/>
                </a:solidFill>
              </a:rPr>
              <a:t> Ürün (yüz spreyi, parfüm, dudak), influencer iş birliği (@ecematalay, @denizyavuz2), rutin, topluluk anketi.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Sıklık:</a:t>
            </a:r>
            <a:r>
              <a:rPr sz="1600" b="0">
                <a:solidFill>
                  <a:srgbClr val="1F1D2B"/>
                </a:solidFill>
              </a:rPr>
              <a:t> 03.10–15.10 arası 8 içerik; son 7 günde 3.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Kanca:</a:t>
            </a:r>
            <a:r>
              <a:rPr sz="1600" b="0">
                <a:solidFill>
                  <a:srgbClr val="1F1D2B"/>
                </a:solidFill>
              </a:rPr>
              <a:t> Yorum çağrısı ("Toasted Rose kalıcı olsun mu?"), 4 adımlı rutin (89.014; dönemin en çok izleneni).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Kampanya:</a:t>
            </a:r>
            <a:r>
              <a:rPr sz="1600" b="0">
                <a:solidFill>
                  <a:srgbClr val="1F1D2B"/>
                </a:solidFill>
              </a:rPr>
              <a:t> Sınırlı sürüm ve topluluk oylaması. İş birliği reel'leri düşük kaldı (5.818; 6.976).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Beğeniler gizli, etkileşim oranları güvenilir değil.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BOLBÉ için fırsat boşlukları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BOLBÉ · 3 · Strateji Analisti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1. </a:t>
            </a:r>
            <a:r>
              <a:rPr sz="1600" b="1">
                <a:solidFill>
                  <a:srgbClr val="1F1D2B"/>
                </a:solidFill>
              </a:rPr>
              <a:t>Rutin içeriği:</a:t>
            </a:r>
            <a:r>
              <a:rPr sz="1600" b="0">
                <a:solidFill>
                  <a:srgbClr val="1F1D2B"/>
                </a:solidFill>
              </a:rPr>
              <a:t> Rakiplerin en çok izlenenleri rutin (TPS 237.806; Cream Co. 89.014). BOLBÉ'de rutine yakın içerik temizleme üçlüsü (1.234); ürün tanıtımları 547–1.489'da.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2. </a:t>
            </a:r>
            <a:r>
              <a:rPr sz="1600" b="1">
                <a:solidFill>
                  <a:srgbClr val="1F1D2B"/>
                </a:solidFill>
              </a:rPr>
              <a:t>İnteraktif format:</a:t>
            </a:r>
            <a:r>
              <a:rPr sz="1600" b="0">
                <a:solidFill>
                  <a:srgbClr val="1F1D2B"/>
                </a:solidFill>
              </a:rPr>
              <a:t> BOLBÉ'nin quiz'i %5,72 ve 19 yorumla tüm rakip içeriklerinin üstünde. Rakiplerde quiz benzeri içerik yok; en yakını The Ordinary'nin tonik karşılaştırması (%1,92).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3. </a:t>
            </a:r>
            <a:r>
              <a:rPr sz="1600" b="1">
                <a:solidFill>
                  <a:srgbClr val="1F1D2B"/>
                </a:solidFill>
              </a:rPr>
              <a:t>Seri/teaser kurgusu:</a:t>
            </a:r>
            <a:r>
              <a:rPr sz="1600" b="0">
                <a:solidFill>
                  <a:srgbClr val="1F1D2B"/>
                </a:solidFill>
              </a:rPr>
              <a:t> The Ordinary ve TPS tek ürünü birden çok içeriğe böler. BOLBÉ'de tek reel tek ürün.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4. </a:t>
            </a:r>
            <a:r>
              <a:rPr sz="1600" b="1">
                <a:solidFill>
                  <a:srgbClr val="1F1D2B"/>
                </a:solidFill>
              </a:rPr>
              <a:t>Yorum çağrısı:</a:t>
            </a:r>
            <a:r>
              <a:rPr sz="1600" b="0">
                <a:solidFill>
                  <a:srgbClr val="1F1D2B"/>
                </a:solidFill>
              </a:rPr>
              <a:t> BOLBÉ'nin 6 içeriğinden 4'ünde yorum 0; Cream Co.'nun yorum çağrısı da düşük yorum aldı (7). Yorum çağrısı tek başına yetmiyor (çıkarım).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5. </a:t>
            </a:r>
            <a:r>
              <a:rPr sz="1600" b="1">
                <a:solidFill>
                  <a:srgbClr val="1F1D2B"/>
                </a:solidFill>
              </a:rPr>
              <a:t>Karusel:</a:t>
            </a:r>
            <a:r>
              <a:rPr sz="1600" b="0">
                <a:solidFill>
                  <a:srgbClr val="1F1D2B"/>
                </a:solidFill>
              </a:rPr>
              <a:t> Dört hesapta da son içerikler tamamen Reel; karusel hiçbirinde yok.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Kopyalanmaması gerekenler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BOLBÉ · 3 · Strateji Analisti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Mağaza oyunu, pop-up, indirim kurgusu (The Ordinary):</a:t>
            </a:r>
            <a:r>
              <a:rPr sz="1600" b="0">
                <a:solidFill>
                  <a:srgbClr val="1F1D2B"/>
                </a:solidFill>
              </a:rPr>
              <a:t> BOLBÉ'nin satış noktası Gratis; fiziksel etkinlik ve indirim kararı marka sahibine aittir.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Mit çürütme tonu (The Ordinary):</a:t>
            </a:r>
            <a:r>
              <a:rPr sz="1600" b="0">
                <a:solidFill>
                  <a:srgbClr val="1F1D2B"/>
                </a:solidFill>
              </a:rPr>
              <a:t> 52.387 izlenme, %0,88 ile hesabın en zayıf etkileşimlerinden. Rakip karşıtlığı BOLBÉ'nin "abartısız, güven veren" tonuna da uymaz.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Yoğun parfüm/makyaj ve influencer ağırlığı (Cream Co.):</a:t>
            </a:r>
            <a:r>
              <a:rPr sz="1600" b="0">
                <a:solidFill>
                  <a:srgbClr val="1F1D2B"/>
                </a:solidFill>
              </a:rPr>
              <a:t> Konumlandırmamız cilt bakımı; iş birliği reel'leri düşük izlendi.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Şampuan/saç serisi (TPS):</a:t>
            </a:r>
            <a:r>
              <a:rPr sz="1600" b="0">
                <a:solidFill>
                  <a:srgbClr val="1F1D2B"/>
                </a:solidFill>
              </a:rPr>
              <a:t> Düşük etkileşim (%0,85–1,13) ve BOLBÉ kategorisi dışı.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</a:t>
            </a:r>
            <a:r>
              <a:rPr sz="1600" b="1">
                <a:solidFill>
                  <a:srgbClr val="1F1D2B"/>
                </a:solidFill>
              </a:rPr>
              <a:t>Etkileşim oranı yarışı:</a:t>
            </a:r>
            <a:r>
              <a:rPr sz="1600" b="0">
                <a:solidFill>
                  <a:srgbClr val="1F1D2B"/>
                </a:solidFill>
              </a:rPr>
              <a:t> The Ordinary'nin izlenmesi takipçisinin ~%3,6'sı, BOLBÉ'ninki ~%13,7, TPS ~%50, Cream Co. ~%36 (son 8 içerik ort./takipçi). Büyük hesabın formatı küçük hesaba aynen taşınmaz.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Uygulanabilir 5 öneri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BOLBÉ · 3 · Strateji Analisti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1. </a:t>
            </a:r>
            <a:r>
              <a:rPr sz="1600" b="1">
                <a:solidFill>
                  <a:srgbClr val="1F1D2B"/>
                </a:solidFill>
              </a:rPr>
              <a:t>Quiz'i haftalık seriye çevir.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Neden: 12.10 quiz %5,72 ve 19 yorum; diğer BOLBÉ reel'leri %0,16–3,90.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Nasıl: "3 saniyede ürün eşleştir" 2. bölüm: "Cilt rutinin hangisi?" Yorum sorusu: "A mı B mi?" Haftada 1.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1. </a:t>
            </a:r>
            <a:r>
              <a:rPr sz="1600" b="1">
                <a:solidFill>
                  <a:srgbClr val="1F1D2B"/>
                </a:solidFill>
              </a:rPr>
              <a:t>Dört adımlı sade rutin reel'i.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Neden: Cream Co. 4 adım rutini 89.014; TPS rutin reel'i 237.806.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Nasıl: 15–20 sn, "Temizle–nemlendir–koru" üç adım, BOLBÉ ürünleriyle, Gratis yönlendirmesi son karede. Sağlık iddiası olmadan, "rutine nasıl yerleşir" dili.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1. </a:t>
            </a:r>
            <a:r>
              <a:rPr sz="1600" b="1">
                <a:solidFill>
                  <a:srgbClr val="1F1D2B"/>
                </a:solidFill>
              </a:rPr>
              <a:t>Mini teaser serisi ile lansman/ürün tanıtımı.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Neden: The Ordinary'nin teaser'ı (228.169) lansman reel'lerinden (70.415–136.694) yüksek izlendi; BOLBÉ ürün reel'leri 547–1.489.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Nasıl: Yeni ürün için 3 içerik: "yakında" (7–8 sn) → ürün nasıl kullanılır → rutine ekleme. Aynı hafta içinde.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1. </a:t>
            </a:r>
            <a:r>
              <a:rPr sz="1600" b="1">
                <a:solidFill>
                  <a:srgbClr val="1F1D2B"/>
                </a:solidFill>
              </a:rPr>
              <a:t>Karusel denemesi.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Neden: Rakiplerde karusel kaydı yok; boşluk. Kayıtsız olması performans anlamına gelmez (veri sınırı).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Uygulanabilir 5 öneri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BOLBÉ · 3 · Strateji Analisti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Nasıl: "Temizleme üçlüsü: hangi sırayla?" 5 kartlık karusel, son kartta Gratis. 2 hafta test, kaydır/kaydet oranına bak.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1. </a:t>
            </a:r>
            <a:r>
              <a:rPr sz="1600" b="1">
                <a:solidFill>
                  <a:srgbClr val="1F1D2B"/>
                </a:solidFill>
              </a:rPr>
              <a:t>Her reel'e kaydırmasız tek net yorum sorusu.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Neden: BOLBÉ'de 6 içeriğin 4'ünde 0 yorum; 14.10 HA reel'indeki yorum sorusu da 0 yorum aldı. Quiz'de yorum, soru yerine eylem istediği için çalışmış olabilir (çıkarım).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Nasıl: "Yorumuna cilt tipini yaz, rutini önerelim" gibi kolay cevaplı çağrı; Merve gibi tanıdık yüzle.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1D2B"/>
                </a:solidFill>
              </a:rPr>
              <a:t>Veri sınırları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5C6D"/>
                </a:solidFill>
              </a:rPr>
              <a:t>BOLBÉ · 3 · Strateji Analisti · Haftalık Rakip Taraması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Yalnız İçerik Tarayıcı raporuna dayanır; web/basın doğrulaması yok.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TPS ve Cream Co. Virale'ye 18.10'da eklendi; geçmiş kısmi. Sıklık hesapları listelenen içeriklere göre, kesin değil.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Cream Co. ve BOLBÉ'nin bazı içeriklerinde beğeniler gizli; etkileşim oranları düşük hesaplanmış olabilir.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Görsel dil ve kanca yorumları yalnız konu/açıklama başlıklarına dayanır, görüntüler incelenmedi.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Viral skor yalnız The Ordinary için var; hesaplar arası karşılaştırılamaz.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1D2B"/>
                </a:solidFill>
              </a:rPr>
              <a:t>•  Takipçi oranları (%) bu rapordaki hesaplamadır, Virale'den alınmadı.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